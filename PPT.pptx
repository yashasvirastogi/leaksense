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  <p:embeddedFont>
      <p:font typeface="Canva Sans Bold" charset="1" panose="020B0803030501040103"/>
      <p:regular r:id="rId21"/>
    </p:embeddedFont>
    <p:embeddedFont>
      <p:font typeface="Bricolage Grotesque Bold" charset="1" panose="020B060504040200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01555" y="4249514"/>
            <a:ext cx="8084890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LeakSense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70021" y="5839770"/>
            <a:ext cx="10388562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INTEGRATING SUSTAINIBILTY AND HOUSEHOLDS.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848295"/>
            <a:ext cx="811530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74290"/>
            <a:ext cx="8115300" cy="565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High water leakage burden on utilities: Significant treated water loss occurs due to aging networks.</a:t>
            </a:r>
          </a:p>
          <a:p>
            <a:pPr algn="l">
              <a:lnSpc>
                <a:spcPts val="4059"/>
              </a:lnSpc>
            </a:pP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Escalating costs: Resources are wasted on moving water that doesn't benefit users, increasing tariffs.</a:t>
            </a:r>
          </a:p>
          <a:p>
            <a:pPr algn="l">
              <a:lnSpc>
                <a:spcPts val="4059"/>
              </a:lnSpc>
            </a:pPr>
          </a:p>
          <a:p>
            <a:pPr algn="l" marL="626106" indent="-313053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Asset damage and safety risks: Leaks lead to dampness, mold, hazards, and higher remediation expenses.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434647" y="0"/>
            <a:ext cx="7824653" cy="10640205"/>
          </a:xfrm>
          <a:custGeom>
            <a:avLst/>
            <a:gdLst/>
            <a:ahLst/>
            <a:cxnLst/>
            <a:rect r="r" b="b" t="t" l="l"/>
            <a:pathLst>
              <a:path h="10640205" w="7824653">
                <a:moveTo>
                  <a:pt x="0" y="0"/>
                </a:moveTo>
                <a:lnTo>
                  <a:pt x="7824653" y="0"/>
                </a:lnTo>
                <a:lnTo>
                  <a:pt x="7824653" y="10640205"/>
                </a:lnTo>
                <a:lnTo>
                  <a:pt x="0" y="1064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" t="0" r="-166" b="-1074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1100" y="896620"/>
            <a:ext cx="7342398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3265" y="-948162"/>
            <a:ext cx="18914529" cy="7556057"/>
            <a:chOff x="0" y="0"/>
            <a:chExt cx="2189637" cy="8747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9637" cy="874725"/>
            </a:xfrm>
            <a:custGeom>
              <a:avLst/>
              <a:gdLst/>
              <a:ahLst/>
              <a:cxnLst/>
              <a:rect r="r" b="b" t="t" l="l"/>
              <a:pathLst>
                <a:path h="874725" w="2189637">
                  <a:moveTo>
                    <a:pt x="2189637" y="0"/>
                  </a:moveTo>
                  <a:lnTo>
                    <a:pt x="2189637" y="760426"/>
                  </a:lnTo>
                  <a:lnTo>
                    <a:pt x="1094818" y="874725"/>
                  </a:lnTo>
                  <a:lnTo>
                    <a:pt x="0" y="760426"/>
                  </a:lnTo>
                  <a:lnTo>
                    <a:pt x="0" y="0"/>
                  </a:lnTo>
                  <a:lnTo>
                    <a:pt x="2189637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89637" cy="80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9984" y="1839269"/>
            <a:ext cx="5616604" cy="990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7499" spc="-44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Target Market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88454" y="4323869"/>
            <a:ext cx="3797472" cy="401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848" indent="-204924" lvl="1">
              <a:lnSpc>
                <a:spcPts val="2657"/>
              </a:lnSpc>
              <a:buFont typeface="Arial"/>
              <a:buChar char="•"/>
            </a:pPr>
            <a:r>
              <a:rPr lang="en-US" sz="189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Focus on the </a:t>
            </a:r>
            <a:r>
              <a:rPr lang="en-US" b="true" sz="189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residential and small commercial sectors</a:t>
            </a:r>
            <a:r>
              <a:rPr lang="en-US" sz="189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in smart leak detection </a:t>
            </a:r>
          </a:p>
          <a:p>
            <a:pPr algn="l" marL="409848" indent="-204924" lvl="1">
              <a:lnSpc>
                <a:spcPts val="2657"/>
              </a:lnSpc>
              <a:buFont typeface="Arial"/>
              <a:buChar char="•"/>
            </a:pPr>
            <a:r>
              <a:rPr lang="en-US" sz="189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Estimated market value of </a:t>
            </a:r>
            <a:r>
              <a:rPr lang="en-US" b="true" sz="189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USD 8007 million to USD 1.2 billion.</a:t>
            </a:r>
          </a:p>
          <a:p>
            <a:pPr algn="l">
              <a:lnSpc>
                <a:spcPts val="2657"/>
              </a:lnSpc>
            </a:pPr>
          </a:p>
          <a:p>
            <a:pPr algn="l" marL="0" indent="0" lvl="0">
              <a:lnSpc>
                <a:spcPts val="2657"/>
              </a:lnSpc>
            </a:pPr>
            <a:r>
              <a:rPr lang="en-US" sz="189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189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 customers include:</a:t>
            </a:r>
          </a:p>
          <a:p>
            <a:pPr algn="l" marL="819697" indent="-273232" lvl="2">
              <a:lnSpc>
                <a:spcPts val="2657"/>
              </a:lnSpc>
              <a:buFont typeface="Arial"/>
              <a:buChar char="⚬"/>
            </a:pPr>
            <a:r>
              <a:rPr lang="en-US" b="true" sz="189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Urban households with plumbing</a:t>
            </a:r>
          </a:p>
          <a:p>
            <a:pPr algn="l" marL="819697" indent="-273232" lvl="2">
              <a:lnSpc>
                <a:spcPts val="265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1898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Property managers and housing societies.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8140" y="901255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REFERENCE:GLOBAL GROWTH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57065" y="4314344"/>
            <a:ext cx="4468822" cy="333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360" indent="-226180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global smart water leak detector market, valued at</a:t>
            </a:r>
            <a:r>
              <a:rPr lang="en-US" b="true" sz="2095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USD 1.4–2.43 billion</a:t>
            </a:r>
            <a:r>
              <a:rPr lang="en-US" sz="209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in 2024 </a:t>
            </a:r>
          </a:p>
          <a:p>
            <a:pPr algn="l" marL="452360" indent="-226180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Expected to grow at</a:t>
            </a:r>
            <a:r>
              <a:rPr lang="en-US" b="true" sz="2095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13.2%</a:t>
            </a:r>
            <a:r>
              <a:rPr lang="en-US" sz="209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to reach </a:t>
            </a:r>
            <a:r>
              <a:rPr lang="en-US" b="true" sz="2095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USD 6.91 billion </a:t>
            </a:r>
            <a:r>
              <a:rPr lang="en-US" sz="209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by 2033</a:t>
            </a:r>
          </a:p>
          <a:p>
            <a:pPr algn="l">
              <a:lnSpc>
                <a:spcPts val="2933"/>
              </a:lnSpc>
            </a:pPr>
            <a:r>
              <a:rPr lang="en-US" sz="209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2095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Scope:</a:t>
            </a:r>
          </a:p>
          <a:p>
            <a:pPr algn="l" marL="452360" indent="-226180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Households</a:t>
            </a:r>
          </a:p>
          <a:p>
            <a:pPr algn="l" marL="452360" indent="-226180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Commercial buildings</a:t>
            </a:r>
          </a:p>
          <a:p>
            <a:pPr algn="l" marL="452360" indent="-226180" lvl="1">
              <a:lnSpc>
                <a:spcPts val="2933"/>
              </a:lnSpc>
              <a:buFont typeface="Arial"/>
              <a:buChar char="•"/>
            </a:pPr>
            <a:r>
              <a:rPr lang="en-US" sz="209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Municipal water applications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7816" y="4314344"/>
            <a:ext cx="5518772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Key factors: 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geographic focus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marketing reach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operational capacity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Estimated growth (3-5 years):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$50-100 million USD.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Focus Areas: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Tier-1 cities.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Partnerships with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insurance firms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and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 estate developers.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58140" y="3190021"/>
            <a:ext cx="54666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F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 Addressable Market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24811" y="3151921"/>
            <a:ext cx="632475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7F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Serviceably addressable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F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market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4585" y="3190021"/>
            <a:ext cx="596740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F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Servicable Obtainable Market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7412" y="1512880"/>
            <a:ext cx="7342398" cy="41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b="true" sz="3099" spc="30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 SIZE AND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00538" y="9012555"/>
            <a:ext cx="270923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REFERENCE: VMR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7412" y="901255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REFERENCE: DATALNELO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1254" y="948683"/>
            <a:ext cx="7342398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192281" y="1611607"/>
            <a:ext cx="22372065" cy="9428572"/>
            <a:chOff x="0" y="0"/>
            <a:chExt cx="2699781" cy="11378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99781" cy="1137807"/>
            </a:xfrm>
            <a:custGeom>
              <a:avLst/>
              <a:gdLst/>
              <a:ahLst/>
              <a:cxnLst/>
              <a:rect r="r" b="b" t="t" l="l"/>
              <a:pathLst>
                <a:path h="1137807" w="2699781">
                  <a:moveTo>
                    <a:pt x="2699781" y="0"/>
                  </a:moveTo>
                  <a:lnTo>
                    <a:pt x="2699781" y="1023507"/>
                  </a:lnTo>
                  <a:lnTo>
                    <a:pt x="1349891" y="1137807"/>
                  </a:lnTo>
                  <a:lnTo>
                    <a:pt x="0" y="1023507"/>
                  </a:lnTo>
                  <a:lnTo>
                    <a:pt x="0" y="0"/>
                  </a:lnTo>
                  <a:lnTo>
                    <a:pt x="2699781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99781" cy="1071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134132" y="97533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OUR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89476" y="1495752"/>
            <a:ext cx="8111730" cy="112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21"/>
              </a:lnSpc>
              <a:spcBef>
                <a:spcPct val="0"/>
              </a:spcBef>
            </a:pPr>
            <a:r>
              <a:rPr lang="en-US" b="true" sz="8521" spc="852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1535055" y="3066071"/>
            <a:ext cx="5954961" cy="1543050"/>
            <a:chOff x="0" y="0"/>
            <a:chExt cx="1568385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8385" cy="406400"/>
            </a:xfrm>
            <a:custGeom>
              <a:avLst/>
              <a:gdLst/>
              <a:ahLst/>
              <a:cxnLst/>
              <a:rect r="r" b="b" t="t" l="l"/>
              <a:pathLst>
                <a:path h="406400" w="1568385">
                  <a:moveTo>
                    <a:pt x="136518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365185" y="406400"/>
                  </a:lnTo>
                  <a:lnTo>
                    <a:pt x="1568385" y="203200"/>
                  </a:lnTo>
                  <a:lnTo>
                    <a:pt x="1365185" y="0"/>
                  </a:lnTo>
                  <a:close/>
                </a:path>
              </a:pathLst>
            </a:custGeom>
            <a:solidFill>
              <a:srgbClr val="8C775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54085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46354" y="3066071"/>
            <a:ext cx="5003524" cy="1543050"/>
            <a:chOff x="0" y="0"/>
            <a:chExt cx="1317801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7801" cy="406400"/>
            </a:xfrm>
            <a:custGeom>
              <a:avLst/>
              <a:gdLst/>
              <a:ahLst/>
              <a:cxnLst/>
              <a:rect r="r" b="b" t="t" l="l"/>
              <a:pathLst>
                <a:path h="406400" w="1317801">
                  <a:moveTo>
                    <a:pt x="0" y="0"/>
                  </a:moveTo>
                  <a:lnTo>
                    <a:pt x="1114601" y="0"/>
                  </a:lnTo>
                  <a:lnTo>
                    <a:pt x="1317801" y="203200"/>
                  </a:lnTo>
                  <a:lnTo>
                    <a:pt x="111460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8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47625"/>
              <a:ext cx="106380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90715" y="3066071"/>
            <a:ext cx="5231719" cy="1543050"/>
            <a:chOff x="0" y="0"/>
            <a:chExt cx="1377901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7901" cy="406400"/>
            </a:xfrm>
            <a:custGeom>
              <a:avLst/>
              <a:gdLst/>
              <a:ahLst/>
              <a:cxnLst/>
              <a:rect r="r" b="b" t="t" l="l"/>
              <a:pathLst>
                <a:path h="406400" w="1377901">
                  <a:moveTo>
                    <a:pt x="0" y="0"/>
                  </a:moveTo>
                  <a:lnTo>
                    <a:pt x="1174701" y="0"/>
                  </a:lnTo>
                  <a:lnTo>
                    <a:pt x="1377901" y="203200"/>
                  </a:lnTo>
                  <a:lnTo>
                    <a:pt x="117470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6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47625"/>
              <a:ext cx="112390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59568" y="3066071"/>
            <a:ext cx="5928432" cy="1543050"/>
            <a:chOff x="0" y="0"/>
            <a:chExt cx="1561398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61398" cy="406400"/>
            </a:xfrm>
            <a:custGeom>
              <a:avLst/>
              <a:gdLst/>
              <a:ahLst/>
              <a:cxnLst/>
              <a:rect r="r" b="b" t="t" l="l"/>
              <a:pathLst>
                <a:path h="406400" w="1561398">
                  <a:moveTo>
                    <a:pt x="0" y="0"/>
                  </a:moveTo>
                  <a:lnTo>
                    <a:pt x="1358198" y="0"/>
                  </a:lnTo>
                  <a:lnTo>
                    <a:pt x="1561398" y="203200"/>
                  </a:lnTo>
                  <a:lnTo>
                    <a:pt x="1358198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4000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130739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36206" y="3614715"/>
            <a:ext cx="28101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rainstorm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31647" y="3630903"/>
            <a:ext cx="18284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Issues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45341" y="3630903"/>
            <a:ext cx="18284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Modifications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12481" y="3630903"/>
            <a:ext cx="18284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Our Take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1449" y="5375507"/>
            <a:ext cx="3757762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initial plan included two sensors: one on the main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water source pipe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and another on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divisions.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Sensors would collect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data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and notify users about any abnormalitie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 via an app.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88323" y="5240357"/>
            <a:ext cx="3715049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Sensor recharging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is needed.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Inconsistent pressure flows may lead to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false predictions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Lack of engagement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in sustainability practices.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260330" y="4376142"/>
            <a:ext cx="0" cy="861252"/>
          </a:xfrm>
          <a:prstGeom prst="line">
            <a:avLst/>
          </a:prstGeom>
          <a:ln cap="flat" w="381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6781036" y="4426729"/>
            <a:ext cx="0" cy="861252"/>
          </a:xfrm>
          <a:prstGeom prst="line">
            <a:avLst/>
          </a:prstGeom>
          <a:ln cap="flat" w="38100">
            <a:solidFill>
              <a:srgbClr val="8C7753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15361880" y="4228920"/>
            <a:ext cx="186282" cy="940880"/>
          </a:xfrm>
          <a:prstGeom prst="line">
            <a:avLst/>
          </a:prstGeom>
          <a:ln cap="flat" w="38100">
            <a:solidFill>
              <a:srgbClr val="938B6A">
                <a:alpha val="4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8" id="28"/>
          <p:cNvSpPr txBox="true"/>
          <p:nvPr/>
        </p:nvSpPr>
        <p:spPr>
          <a:xfrm rot="0">
            <a:off x="13389202" y="5189410"/>
            <a:ext cx="3907256" cy="408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Moisture sensors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will be automated in designated locations.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community leaderboard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with the authorities being notified of the individuals with most quick responses to their issues.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29" id="29"/>
          <p:cNvSpPr/>
          <p:nvPr/>
        </p:nvSpPr>
        <p:spPr>
          <a:xfrm>
            <a:off x="10506575" y="4502938"/>
            <a:ext cx="0" cy="734457"/>
          </a:xfrm>
          <a:prstGeom prst="line">
            <a:avLst/>
          </a:prstGeom>
          <a:ln cap="flat" w="38100">
            <a:solidFill>
              <a:srgbClr val="8C7753">
                <a:alpha val="4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0" id="30"/>
          <p:cNvSpPr txBox="true"/>
          <p:nvPr/>
        </p:nvSpPr>
        <p:spPr>
          <a:xfrm rot="0">
            <a:off x="8649878" y="5189770"/>
            <a:ext cx="3779118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Solar panels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will power external sensors; internal sensors will use low-power sources like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LoRa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and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Bizbee.  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Acoustic and pressure sensors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will be combined to minimize misreading margins.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1076325"/>
            <a:ext cx="2198855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722" t="0" r="-4338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913" t="0" r="-208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778960" y="1123950"/>
            <a:ext cx="713806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INTEGRATION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17205" y="2115842"/>
            <a:ext cx="797266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Merging sensor intelligence with cloud analytics: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17205" y="2607332"/>
            <a:ext cx="7742095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Sensor Fusion: Uses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Kalman filters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&amp;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Bayesian networks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for highly reliable detection.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Confidence Scoring: Assigns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reliability scores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to reduce false alerts.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17205" y="4319927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Edge plus cloud architecture: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17205" y="4811417"/>
            <a:ext cx="766157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Local anomaly detection &amp; temporary data buffering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Instant response,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low energy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&amp; bandwidth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consumption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17205" y="6318272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Communication Layer: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7205" y="6809762"/>
            <a:ext cx="774209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LoRaWAN / NB-IoT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for long-range, low-power communication (Wi-Fi fallback for dense areas)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17205" y="7794052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Transmission: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17205" y="8285542"/>
            <a:ext cx="774209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Lightweight </a:t>
            </a: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MQTT/CoAP protocols </a:t>
            </a: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send only anomalies or summaries to</a:t>
            </a: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cloud servers.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5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3879" y="0"/>
            <a:ext cx="8474121" cy="8995763"/>
          </a:xfrm>
          <a:custGeom>
            <a:avLst/>
            <a:gdLst/>
            <a:ahLst/>
            <a:cxnLst/>
            <a:rect r="r" b="b" t="t" l="l"/>
            <a:pathLst>
              <a:path h="8995763" w="8474121">
                <a:moveTo>
                  <a:pt x="0" y="0"/>
                </a:moveTo>
                <a:lnTo>
                  <a:pt x="8474121" y="0"/>
                </a:lnTo>
                <a:lnTo>
                  <a:pt x="8474121" y="8995763"/>
                </a:lnTo>
                <a:lnTo>
                  <a:pt x="0" y="8995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82" t="-5839" r="-14462" b="-76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9175" y="1700960"/>
            <a:ext cx="9826774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800" spc="-288">
                <a:solidFill>
                  <a:srgbClr val="B96E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Cloud Intelligence, Modular Sensors and Deployment  Blueprint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9491" y="3357745"/>
            <a:ext cx="74229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7F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Cloud &amp; Analytics Layer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9491" y="3966011"/>
            <a:ext cx="9728954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Cloud &amp; Analytics Layer h</a:t>
            </a: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osted on </a:t>
            </a:r>
            <a:r>
              <a:rPr lang="en-US" b="true" sz="23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AWS IoT</a:t>
            </a:r>
          </a:p>
          <a:p>
            <a:pPr algn="l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Enables</a:t>
            </a:r>
            <a:r>
              <a:rPr lang="en-US" b="true" sz="23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analytics</a:t>
            </a: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dashboards &amp; </a:t>
            </a:r>
            <a:r>
              <a:rPr lang="en-US" b="true" sz="23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predictive maintenance</a:t>
            </a:r>
          </a:p>
          <a:p>
            <a:pPr algn="l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b="true" sz="23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InfluxDB</a:t>
            </a: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: Lightweight, real-time local data</a:t>
            </a:r>
          </a:p>
          <a:p>
            <a:pPr algn="l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b="true" sz="23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TimescaleDB </a:t>
            </a: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: Scalable analytics </a:t>
            </a:r>
          </a:p>
          <a:p>
            <a:pPr algn="l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Secured with </a:t>
            </a:r>
            <a:r>
              <a:rPr lang="en-US" b="true" sz="23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TLS encryption</a:t>
            </a: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and role-based access control.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9175" y="6946194"/>
            <a:ext cx="74229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7F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Modular Sensor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9175" y="7546269"/>
            <a:ext cx="8524082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Plug-and-play pressure, acoustic, and moisture modules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easy installation</a:t>
            </a: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and scalability.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4026" y="9210675"/>
            <a:ext cx="17259300" cy="44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sz="2672" b="true">
                <a:solidFill>
                  <a:srgbClr val="B96E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Accuracy through sensor fusion   Efficiency through computing   Scalability through modular design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543367">
            <a:off x="11440575" y="9376881"/>
            <a:ext cx="161693" cy="161693"/>
          </a:xfrm>
          <a:custGeom>
            <a:avLst/>
            <a:gdLst/>
            <a:ahLst/>
            <a:cxnLst/>
            <a:rect r="r" b="b" t="t" l="l"/>
            <a:pathLst>
              <a:path h="161693" w="161693">
                <a:moveTo>
                  <a:pt x="0" y="0"/>
                </a:moveTo>
                <a:lnTo>
                  <a:pt x="161693" y="0"/>
                </a:lnTo>
                <a:lnTo>
                  <a:pt x="161693" y="161692"/>
                </a:lnTo>
                <a:lnTo>
                  <a:pt x="0" y="161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543367">
            <a:off x="6213337" y="9376881"/>
            <a:ext cx="161693" cy="161693"/>
          </a:xfrm>
          <a:custGeom>
            <a:avLst/>
            <a:gdLst/>
            <a:ahLst/>
            <a:cxnLst/>
            <a:rect r="r" b="b" t="t" l="l"/>
            <a:pathLst>
              <a:path h="161693" w="161693">
                <a:moveTo>
                  <a:pt x="0" y="0"/>
                </a:moveTo>
                <a:lnTo>
                  <a:pt x="161693" y="0"/>
                </a:lnTo>
                <a:lnTo>
                  <a:pt x="161693" y="161692"/>
                </a:lnTo>
                <a:lnTo>
                  <a:pt x="0" y="161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543367">
            <a:off x="589033" y="9376881"/>
            <a:ext cx="161693" cy="161693"/>
          </a:xfrm>
          <a:custGeom>
            <a:avLst/>
            <a:gdLst/>
            <a:ahLst/>
            <a:cxnLst/>
            <a:rect r="r" b="b" t="t" l="l"/>
            <a:pathLst>
              <a:path h="161693" w="161693">
                <a:moveTo>
                  <a:pt x="0" y="0"/>
                </a:moveTo>
                <a:lnTo>
                  <a:pt x="161692" y="0"/>
                </a:lnTo>
                <a:lnTo>
                  <a:pt x="161692" y="161692"/>
                </a:lnTo>
                <a:lnTo>
                  <a:pt x="0" y="161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20009" y="910273"/>
            <a:ext cx="7342398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619" y="-688435"/>
            <a:ext cx="18416619" cy="10975435"/>
          </a:xfrm>
          <a:custGeom>
            <a:avLst/>
            <a:gdLst/>
            <a:ahLst/>
            <a:cxnLst/>
            <a:rect r="r" b="b" t="t" l="l"/>
            <a:pathLst>
              <a:path h="10975435" w="18416619">
                <a:moveTo>
                  <a:pt x="0" y="0"/>
                </a:moveTo>
                <a:lnTo>
                  <a:pt x="18416619" y="0"/>
                </a:lnTo>
                <a:lnTo>
                  <a:pt x="18416619" y="10975435"/>
                </a:lnTo>
                <a:lnTo>
                  <a:pt x="0" y="10975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331" r="0" b="-2278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39521" y="6155198"/>
            <a:ext cx="123717" cy="26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8"/>
              </a:lnSpc>
            </a:pPr>
            <a:r>
              <a:rPr lang="en-US" sz="15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47367" y="7237381"/>
            <a:ext cx="123717" cy="26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8"/>
              </a:lnSpc>
            </a:pPr>
            <a:r>
              <a:rPr lang="en-US" sz="15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23454" y="5046942"/>
            <a:ext cx="105013" cy="23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4"/>
              </a:lnSpc>
            </a:pPr>
            <a:r>
              <a:rPr lang="en-US" sz="1310" b="true">
                <a:solidFill>
                  <a:srgbClr val="95DA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44220"/>
            <a:ext cx="7342398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3938" y="6605588"/>
            <a:ext cx="189548" cy="184785"/>
            <a:chOff x="0" y="0"/>
            <a:chExt cx="252730" cy="2463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800" y="50746"/>
              <a:ext cx="148590" cy="148274"/>
            </a:xfrm>
            <a:custGeom>
              <a:avLst/>
              <a:gdLst/>
              <a:ahLst/>
              <a:cxnLst/>
              <a:rect r="r" b="b" t="t" l="l"/>
              <a:pathLst>
                <a:path h="148274" w="148590">
                  <a:moveTo>
                    <a:pt x="148590" y="52124"/>
                  </a:moveTo>
                  <a:cubicBezTo>
                    <a:pt x="146050" y="105464"/>
                    <a:pt x="127000" y="134674"/>
                    <a:pt x="107950" y="143564"/>
                  </a:cubicBezTo>
                  <a:cubicBezTo>
                    <a:pt x="88900" y="152454"/>
                    <a:pt x="53340" y="147374"/>
                    <a:pt x="36830" y="139754"/>
                  </a:cubicBezTo>
                  <a:cubicBezTo>
                    <a:pt x="25400" y="134674"/>
                    <a:pt x="17780" y="124514"/>
                    <a:pt x="11430" y="114354"/>
                  </a:cubicBezTo>
                  <a:cubicBezTo>
                    <a:pt x="5080" y="104194"/>
                    <a:pt x="0" y="92764"/>
                    <a:pt x="0" y="78794"/>
                  </a:cubicBezTo>
                  <a:cubicBezTo>
                    <a:pt x="1270" y="61014"/>
                    <a:pt x="16510" y="27994"/>
                    <a:pt x="29210" y="14024"/>
                  </a:cubicBezTo>
                  <a:cubicBezTo>
                    <a:pt x="39370" y="5134"/>
                    <a:pt x="49530" y="54"/>
                    <a:pt x="62230" y="54"/>
                  </a:cubicBezTo>
                  <a:cubicBezTo>
                    <a:pt x="81280" y="-1216"/>
                    <a:pt x="130810" y="20374"/>
                    <a:pt x="130810" y="2037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127557" y="5366385"/>
            <a:ext cx="1342073" cy="425768"/>
            <a:chOff x="0" y="0"/>
            <a:chExt cx="1789430" cy="567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9978" y="47500"/>
              <a:ext cx="1688653" cy="480062"/>
            </a:xfrm>
            <a:custGeom>
              <a:avLst/>
              <a:gdLst/>
              <a:ahLst/>
              <a:cxnLst/>
              <a:rect r="r" b="b" t="t" l="l"/>
              <a:pathLst>
                <a:path h="480062" w="1688653">
                  <a:moveTo>
                    <a:pt x="1486722" y="343660"/>
                  </a:moveTo>
                  <a:cubicBezTo>
                    <a:pt x="474532" y="384300"/>
                    <a:pt x="353882" y="443990"/>
                    <a:pt x="303082" y="437640"/>
                  </a:cubicBezTo>
                  <a:cubicBezTo>
                    <a:pt x="284032" y="435100"/>
                    <a:pt x="276412" y="430020"/>
                    <a:pt x="266252" y="419860"/>
                  </a:cubicBezTo>
                  <a:cubicBezTo>
                    <a:pt x="253552" y="407160"/>
                    <a:pt x="239582" y="385570"/>
                    <a:pt x="237042" y="366520"/>
                  </a:cubicBezTo>
                  <a:cubicBezTo>
                    <a:pt x="234502" y="347470"/>
                    <a:pt x="239582" y="323340"/>
                    <a:pt x="249742" y="308100"/>
                  </a:cubicBezTo>
                  <a:cubicBezTo>
                    <a:pt x="261172" y="291590"/>
                    <a:pt x="273872" y="280160"/>
                    <a:pt x="299272" y="272540"/>
                  </a:cubicBezTo>
                  <a:cubicBezTo>
                    <a:pt x="360232" y="253490"/>
                    <a:pt x="498662" y="289050"/>
                    <a:pt x="639632" y="280160"/>
                  </a:cubicBezTo>
                  <a:cubicBezTo>
                    <a:pt x="873312" y="266190"/>
                    <a:pt x="1512122" y="82040"/>
                    <a:pt x="1565462" y="143000"/>
                  </a:cubicBezTo>
                  <a:cubicBezTo>
                    <a:pt x="1583242" y="163320"/>
                    <a:pt x="1557842" y="212850"/>
                    <a:pt x="1538792" y="234440"/>
                  </a:cubicBezTo>
                  <a:cubicBezTo>
                    <a:pt x="1521012" y="256030"/>
                    <a:pt x="1489262" y="264920"/>
                    <a:pt x="1456242" y="272540"/>
                  </a:cubicBezTo>
                  <a:cubicBezTo>
                    <a:pt x="1409252" y="283970"/>
                    <a:pt x="1353372" y="272540"/>
                    <a:pt x="1282252" y="278890"/>
                  </a:cubicBezTo>
                  <a:cubicBezTo>
                    <a:pt x="1169222" y="289050"/>
                    <a:pt x="1005392" y="332230"/>
                    <a:pt x="841562" y="344930"/>
                  </a:cubicBezTo>
                  <a:cubicBezTo>
                    <a:pt x="638362" y="360170"/>
                    <a:pt x="256092" y="369060"/>
                    <a:pt x="154492" y="350010"/>
                  </a:cubicBezTo>
                  <a:cubicBezTo>
                    <a:pt x="125282" y="344930"/>
                    <a:pt x="112582" y="341120"/>
                    <a:pt x="98612" y="329690"/>
                  </a:cubicBezTo>
                  <a:cubicBezTo>
                    <a:pt x="84642" y="316990"/>
                    <a:pt x="73212" y="294130"/>
                    <a:pt x="70672" y="276350"/>
                  </a:cubicBezTo>
                  <a:cubicBezTo>
                    <a:pt x="68132" y="257300"/>
                    <a:pt x="74482" y="233170"/>
                    <a:pt x="84642" y="217930"/>
                  </a:cubicBezTo>
                  <a:cubicBezTo>
                    <a:pt x="96072" y="201420"/>
                    <a:pt x="108772" y="191260"/>
                    <a:pt x="134172" y="183640"/>
                  </a:cubicBezTo>
                  <a:cubicBezTo>
                    <a:pt x="192592" y="163320"/>
                    <a:pt x="375472" y="184910"/>
                    <a:pt x="452942" y="172210"/>
                  </a:cubicBezTo>
                  <a:cubicBezTo>
                    <a:pt x="498662" y="164590"/>
                    <a:pt x="515172" y="149350"/>
                    <a:pt x="559622" y="140460"/>
                  </a:cubicBezTo>
                  <a:cubicBezTo>
                    <a:pt x="634552" y="126490"/>
                    <a:pt x="762822" y="126490"/>
                    <a:pt x="863152" y="115060"/>
                  </a:cubicBezTo>
                  <a:cubicBezTo>
                    <a:pt x="963482" y="102360"/>
                    <a:pt x="1087942" y="70610"/>
                    <a:pt x="1162872" y="66800"/>
                  </a:cubicBezTo>
                  <a:cubicBezTo>
                    <a:pt x="1207322" y="65530"/>
                    <a:pt x="1246692" y="64260"/>
                    <a:pt x="1270822" y="74420"/>
                  </a:cubicBezTo>
                  <a:cubicBezTo>
                    <a:pt x="1284792" y="79500"/>
                    <a:pt x="1293682" y="89660"/>
                    <a:pt x="1300032" y="99820"/>
                  </a:cubicBezTo>
                  <a:cubicBezTo>
                    <a:pt x="1307652" y="111250"/>
                    <a:pt x="1314002" y="122680"/>
                    <a:pt x="1315272" y="136650"/>
                  </a:cubicBezTo>
                  <a:cubicBezTo>
                    <a:pt x="1316542" y="154430"/>
                    <a:pt x="1310192" y="179830"/>
                    <a:pt x="1302572" y="195070"/>
                  </a:cubicBezTo>
                  <a:cubicBezTo>
                    <a:pt x="1294952" y="206500"/>
                    <a:pt x="1283522" y="215390"/>
                    <a:pt x="1272092" y="221740"/>
                  </a:cubicBezTo>
                  <a:cubicBezTo>
                    <a:pt x="1260662" y="228090"/>
                    <a:pt x="1255582" y="229360"/>
                    <a:pt x="1233992" y="231900"/>
                  </a:cubicBezTo>
                  <a:cubicBezTo>
                    <a:pt x="1117152" y="247140"/>
                    <a:pt x="220532" y="215390"/>
                    <a:pt x="117662" y="234440"/>
                  </a:cubicBezTo>
                  <a:cubicBezTo>
                    <a:pt x="99882" y="238250"/>
                    <a:pt x="98612" y="245870"/>
                    <a:pt x="87182" y="245870"/>
                  </a:cubicBezTo>
                  <a:cubicBezTo>
                    <a:pt x="71942" y="245870"/>
                    <a:pt x="44002" y="235710"/>
                    <a:pt x="30032" y="224280"/>
                  </a:cubicBezTo>
                  <a:cubicBezTo>
                    <a:pt x="18602" y="215390"/>
                    <a:pt x="10982" y="202690"/>
                    <a:pt x="5902" y="189990"/>
                  </a:cubicBezTo>
                  <a:cubicBezTo>
                    <a:pt x="2092" y="177290"/>
                    <a:pt x="-1718" y="163320"/>
                    <a:pt x="822" y="149350"/>
                  </a:cubicBezTo>
                  <a:cubicBezTo>
                    <a:pt x="4632" y="131570"/>
                    <a:pt x="16062" y="107440"/>
                    <a:pt x="30032" y="94740"/>
                  </a:cubicBezTo>
                  <a:cubicBezTo>
                    <a:pt x="44002" y="82040"/>
                    <a:pt x="65592" y="73150"/>
                    <a:pt x="87182" y="73150"/>
                  </a:cubicBezTo>
                  <a:cubicBezTo>
                    <a:pt x="113852" y="73150"/>
                    <a:pt x="145602" y="99820"/>
                    <a:pt x="176082" y="107440"/>
                  </a:cubicBezTo>
                  <a:cubicBezTo>
                    <a:pt x="207832" y="115060"/>
                    <a:pt x="223072" y="116330"/>
                    <a:pt x="273872" y="118870"/>
                  </a:cubicBezTo>
                  <a:cubicBezTo>
                    <a:pt x="444052" y="130300"/>
                    <a:pt x="1221292" y="104900"/>
                    <a:pt x="1409252" y="120140"/>
                  </a:cubicBezTo>
                  <a:cubicBezTo>
                    <a:pt x="1471482" y="126490"/>
                    <a:pt x="1493072" y="130300"/>
                    <a:pt x="1532442" y="141730"/>
                  </a:cubicBezTo>
                  <a:cubicBezTo>
                    <a:pt x="1571812" y="153160"/>
                    <a:pt x="1621342" y="162050"/>
                    <a:pt x="1648012" y="186180"/>
                  </a:cubicBezTo>
                  <a:cubicBezTo>
                    <a:pt x="1670872" y="209040"/>
                    <a:pt x="1688652" y="249680"/>
                    <a:pt x="1688652" y="280160"/>
                  </a:cubicBezTo>
                  <a:cubicBezTo>
                    <a:pt x="1688652" y="309370"/>
                    <a:pt x="1668332" y="344930"/>
                    <a:pt x="1649282" y="367790"/>
                  </a:cubicBezTo>
                  <a:cubicBezTo>
                    <a:pt x="1632772" y="388110"/>
                    <a:pt x="1608642" y="399540"/>
                    <a:pt x="1585782" y="412240"/>
                  </a:cubicBezTo>
                  <a:cubicBezTo>
                    <a:pt x="1562922" y="424940"/>
                    <a:pt x="1541332" y="435100"/>
                    <a:pt x="1510852" y="442720"/>
                  </a:cubicBezTo>
                  <a:cubicBezTo>
                    <a:pt x="1467672" y="454150"/>
                    <a:pt x="1427032" y="459230"/>
                    <a:pt x="1350832" y="464310"/>
                  </a:cubicBezTo>
                  <a:cubicBezTo>
                    <a:pt x="1169222" y="477010"/>
                    <a:pt x="602802" y="489710"/>
                    <a:pt x="412302" y="469390"/>
                  </a:cubicBezTo>
                  <a:cubicBezTo>
                    <a:pt x="327212" y="459230"/>
                    <a:pt x="282762" y="436370"/>
                    <a:pt x="228152" y="427480"/>
                  </a:cubicBezTo>
                  <a:cubicBezTo>
                    <a:pt x="186242" y="421130"/>
                    <a:pt x="139252" y="433830"/>
                    <a:pt x="112582" y="419860"/>
                  </a:cubicBezTo>
                  <a:cubicBezTo>
                    <a:pt x="93532" y="409700"/>
                    <a:pt x="79562" y="388110"/>
                    <a:pt x="73212" y="371600"/>
                  </a:cubicBezTo>
                  <a:cubicBezTo>
                    <a:pt x="68132" y="358900"/>
                    <a:pt x="68132" y="343660"/>
                    <a:pt x="69402" y="330960"/>
                  </a:cubicBezTo>
                  <a:cubicBezTo>
                    <a:pt x="71942" y="316990"/>
                    <a:pt x="78292" y="303020"/>
                    <a:pt x="85912" y="291590"/>
                  </a:cubicBezTo>
                  <a:cubicBezTo>
                    <a:pt x="93532" y="281430"/>
                    <a:pt x="98612" y="273810"/>
                    <a:pt x="117662" y="264920"/>
                  </a:cubicBezTo>
                  <a:cubicBezTo>
                    <a:pt x="187512" y="233170"/>
                    <a:pt x="478342" y="209040"/>
                    <a:pt x="651062" y="165860"/>
                  </a:cubicBezTo>
                  <a:cubicBezTo>
                    <a:pt x="819972" y="122680"/>
                    <a:pt x="1056192" y="17270"/>
                    <a:pt x="1143822" y="7110"/>
                  </a:cubicBezTo>
                  <a:cubicBezTo>
                    <a:pt x="1175572" y="3300"/>
                    <a:pt x="1190812" y="4570"/>
                    <a:pt x="1208592" y="12190"/>
                  </a:cubicBezTo>
                  <a:cubicBezTo>
                    <a:pt x="1226372" y="19810"/>
                    <a:pt x="1244152" y="37590"/>
                    <a:pt x="1251772" y="54100"/>
                  </a:cubicBezTo>
                  <a:cubicBezTo>
                    <a:pt x="1260662" y="70610"/>
                    <a:pt x="1261932" y="96010"/>
                    <a:pt x="1256852" y="113790"/>
                  </a:cubicBezTo>
                  <a:cubicBezTo>
                    <a:pt x="1251772" y="132840"/>
                    <a:pt x="1235262" y="151890"/>
                    <a:pt x="1221292" y="162050"/>
                  </a:cubicBezTo>
                  <a:cubicBezTo>
                    <a:pt x="1209862" y="170940"/>
                    <a:pt x="1200972" y="172210"/>
                    <a:pt x="1181922" y="174750"/>
                  </a:cubicBezTo>
                  <a:cubicBezTo>
                    <a:pt x="1133662" y="183640"/>
                    <a:pt x="930462" y="193800"/>
                    <a:pt x="919032" y="176020"/>
                  </a:cubicBezTo>
                  <a:cubicBezTo>
                    <a:pt x="916492" y="170940"/>
                    <a:pt x="929192" y="155700"/>
                    <a:pt x="929192" y="155700"/>
                  </a:cubicBezTo>
                  <a:cubicBezTo>
                    <a:pt x="927922" y="155700"/>
                    <a:pt x="906332" y="212850"/>
                    <a:pt x="884742" y="224280"/>
                  </a:cubicBezTo>
                  <a:cubicBezTo>
                    <a:pt x="864422" y="235710"/>
                    <a:pt x="823782" y="234440"/>
                    <a:pt x="803462" y="226820"/>
                  </a:cubicBezTo>
                  <a:cubicBezTo>
                    <a:pt x="785682" y="219200"/>
                    <a:pt x="770442" y="203960"/>
                    <a:pt x="764092" y="187450"/>
                  </a:cubicBezTo>
                  <a:cubicBezTo>
                    <a:pt x="755202" y="165860"/>
                    <a:pt x="755202" y="126490"/>
                    <a:pt x="766632" y="104900"/>
                  </a:cubicBezTo>
                  <a:cubicBezTo>
                    <a:pt x="778062" y="84580"/>
                    <a:pt x="811082" y="62990"/>
                    <a:pt x="835212" y="61720"/>
                  </a:cubicBezTo>
                  <a:cubicBezTo>
                    <a:pt x="859342" y="59180"/>
                    <a:pt x="894902" y="75690"/>
                    <a:pt x="910142" y="93470"/>
                  </a:cubicBezTo>
                  <a:cubicBezTo>
                    <a:pt x="925382" y="112520"/>
                    <a:pt x="930462" y="151890"/>
                    <a:pt x="925382" y="174750"/>
                  </a:cubicBezTo>
                  <a:cubicBezTo>
                    <a:pt x="921572" y="192530"/>
                    <a:pt x="908872" y="210310"/>
                    <a:pt x="892362" y="219200"/>
                  </a:cubicBezTo>
                  <a:cubicBezTo>
                    <a:pt x="873312" y="230630"/>
                    <a:pt x="833942" y="235710"/>
                    <a:pt x="812352" y="230630"/>
                  </a:cubicBezTo>
                  <a:cubicBezTo>
                    <a:pt x="794572" y="225550"/>
                    <a:pt x="778062" y="210310"/>
                    <a:pt x="769172" y="195070"/>
                  </a:cubicBezTo>
                  <a:cubicBezTo>
                    <a:pt x="759012" y="179830"/>
                    <a:pt x="752662" y="162050"/>
                    <a:pt x="755202" y="140460"/>
                  </a:cubicBezTo>
                  <a:cubicBezTo>
                    <a:pt x="760282" y="107440"/>
                    <a:pt x="797112" y="37590"/>
                    <a:pt x="830132" y="16000"/>
                  </a:cubicBezTo>
                  <a:cubicBezTo>
                    <a:pt x="855532" y="-510"/>
                    <a:pt x="880932" y="5840"/>
                    <a:pt x="919032" y="3300"/>
                  </a:cubicBezTo>
                  <a:cubicBezTo>
                    <a:pt x="988882" y="-510"/>
                    <a:pt x="1161602" y="-4320"/>
                    <a:pt x="1208592" y="12190"/>
                  </a:cubicBezTo>
                  <a:cubicBezTo>
                    <a:pt x="1226372" y="18540"/>
                    <a:pt x="1232722" y="24890"/>
                    <a:pt x="1241612" y="36320"/>
                  </a:cubicBezTo>
                  <a:cubicBezTo>
                    <a:pt x="1251772" y="50290"/>
                    <a:pt x="1260662" y="76960"/>
                    <a:pt x="1260662" y="93470"/>
                  </a:cubicBezTo>
                  <a:cubicBezTo>
                    <a:pt x="1260662" y="108710"/>
                    <a:pt x="1255582" y="121410"/>
                    <a:pt x="1249232" y="132840"/>
                  </a:cubicBezTo>
                  <a:cubicBezTo>
                    <a:pt x="1242882" y="144270"/>
                    <a:pt x="1239072" y="151890"/>
                    <a:pt x="1221292" y="162050"/>
                  </a:cubicBezTo>
                  <a:cubicBezTo>
                    <a:pt x="1146362" y="207770"/>
                    <a:pt x="748852" y="309370"/>
                    <a:pt x="553272" y="356360"/>
                  </a:cubicBezTo>
                  <a:cubicBezTo>
                    <a:pt x="403412" y="391920"/>
                    <a:pt x="216722" y="433830"/>
                    <a:pt x="153222" y="431290"/>
                  </a:cubicBezTo>
                  <a:cubicBezTo>
                    <a:pt x="132902" y="430020"/>
                    <a:pt x="124012" y="426210"/>
                    <a:pt x="112582" y="419860"/>
                  </a:cubicBezTo>
                  <a:cubicBezTo>
                    <a:pt x="101152" y="413510"/>
                    <a:pt x="89722" y="403350"/>
                    <a:pt x="82102" y="390650"/>
                  </a:cubicBezTo>
                  <a:cubicBezTo>
                    <a:pt x="73212" y="375410"/>
                    <a:pt x="66862" y="350010"/>
                    <a:pt x="69402" y="330960"/>
                  </a:cubicBezTo>
                  <a:cubicBezTo>
                    <a:pt x="73212" y="311910"/>
                    <a:pt x="87182" y="289050"/>
                    <a:pt x="99882" y="276350"/>
                  </a:cubicBezTo>
                  <a:cubicBezTo>
                    <a:pt x="111312" y="266190"/>
                    <a:pt x="122742" y="262380"/>
                    <a:pt x="137982" y="258570"/>
                  </a:cubicBezTo>
                  <a:cubicBezTo>
                    <a:pt x="158302" y="253490"/>
                    <a:pt x="179892" y="256030"/>
                    <a:pt x="210372" y="258570"/>
                  </a:cubicBezTo>
                  <a:cubicBezTo>
                    <a:pt x="259902" y="262380"/>
                    <a:pt x="322132" y="287780"/>
                    <a:pt x="412302" y="296670"/>
                  </a:cubicBezTo>
                  <a:cubicBezTo>
                    <a:pt x="586292" y="313180"/>
                    <a:pt x="987612" y="304290"/>
                    <a:pt x="1183192" y="297940"/>
                  </a:cubicBezTo>
                  <a:cubicBezTo>
                    <a:pt x="1303842" y="294130"/>
                    <a:pt x="1411792" y="296670"/>
                    <a:pt x="1476562" y="277620"/>
                  </a:cubicBezTo>
                  <a:cubicBezTo>
                    <a:pt x="1510852" y="267460"/>
                    <a:pt x="1546412" y="230630"/>
                    <a:pt x="1551492" y="235710"/>
                  </a:cubicBezTo>
                  <a:cubicBezTo>
                    <a:pt x="1556572" y="240790"/>
                    <a:pt x="1531172" y="297940"/>
                    <a:pt x="1509582" y="309370"/>
                  </a:cubicBezTo>
                  <a:cubicBezTo>
                    <a:pt x="1485452" y="320800"/>
                    <a:pt x="1461322" y="297940"/>
                    <a:pt x="1409252" y="292860"/>
                  </a:cubicBezTo>
                  <a:cubicBezTo>
                    <a:pt x="1227642" y="278890"/>
                    <a:pt x="372932" y="325880"/>
                    <a:pt x="174812" y="286510"/>
                  </a:cubicBezTo>
                  <a:cubicBezTo>
                    <a:pt x="108772" y="273810"/>
                    <a:pt x="75752" y="257300"/>
                    <a:pt x="46542" y="236980"/>
                  </a:cubicBezTo>
                  <a:cubicBezTo>
                    <a:pt x="27492" y="223010"/>
                    <a:pt x="13522" y="206500"/>
                    <a:pt x="5902" y="189990"/>
                  </a:cubicBezTo>
                  <a:cubicBezTo>
                    <a:pt x="822" y="177290"/>
                    <a:pt x="-448" y="162050"/>
                    <a:pt x="822" y="149350"/>
                  </a:cubicBezTo>
                  <a:cubicBezTo>
                    <a:pt x="3362" y="135380"/>
                    <a:pt x="8442" y="121410"/>
                    <a:pt x="16062" y="109980"/>
                  </a:cubicBezTo>
                  <a:cubicBezTo>
                    <a:pt x="23682" y="99820"/>
                    <a:pt x="33842" y="89660"/>
                    <a:pt x="46542" y="83310"/>
                  </a:cubicBezTo>
                  <a:cubicBezTo>
                    <a:pt x="65592" y="73150"/>
                    <a:pt x="79562" y="66800"/>
                    <a:pt x="117662" y="61720"/>
                  </a:cubicBezTo>
                  <a:cubicBezTo>
                    <a:pt x="264982" y="40130"/>
                    <a:pt x="1096832" y="41400"/>
                    <a:pt x="1231452" y="65530"/>
                  </a:cubicBezTo>
                  <a:cubicBezTo>
                    <a:pt x="1261932" y="70610"/>
                    <a:pt x="1273362" y="73150"/>
                    <a:pt x="1287332" y="85850"/>
                  </a:cubicBezTo>
                  <a:cubicBezTo>
                    <a:pt x="1301302" y="97280"/>
                    <a:pt x="1312732" y="118870"/>
                    <a:pt x="1315272" y="136650"/>
                  </a:cubicBezTo>
                  <a:cubicBezTo>
                    <a:pt x="1317812" y="155700"/>
                    <a:pt x="1312732" y="179830"/>
                    <a:pt x="1302572" y="195070"/>
                  </a:cubicBezTo>
                  <a:cubicBezTo>
                    <a:pt x="1292412" y="210310"/>
                    <a:pt x="1280982" y="219200"/>
                    <a:pt x="1254312" y="229360"/>
                  </a:cubicBezTo>
                  <a:cubicBezTo>
                    <a:pt x="1162872" y="263650"/>
                    <a:pt x="738692" y="273810"/>
                    <a:pt x="609152" y="299210"/>
                  </a:cubicBezTo>
                  <a:cubicBezTo>
                    <a:pt x="552002" y="311910"/>
                    <a:pt x="527872" y="328420"/>
                    <a:pt x="487232" y="336040"/>
                  </a:cubicBezTo>
                  <a:cubicBezTo>
                    <a:pt x="447862" y="344930"/>
                    <a:pt x="413572" y="347470"/>
                    <a:pt x="367852" y="350010"/>
                  </a:cubicBezTo>
                  <a:cubicBezTo>
                    <a:pt x="306892" y="353820"/>
                    <a:pt x="202752" y="358900"/>
                    <a:pt x="154492" y="350010"/>
                  </a:cubicBezTo>
                  <a:cubicBezTo>
                    <a:pt x="129092" y="346200"/>
                    <a:pt x="112582" y="341120"/>
                    <a:pt x="98612" y="329690"/>
                  </a:cubicBezTo>
                  <a:cubicBezTo>
                    <a:pt x="84642" y="316990"/>
                    <a:pt x="73212" y="294130"/>
                    <a:pt x="70672" y="276350"/>
                  </a:cubicBezTo>
                  <a:cubicBezTo>
                    <a:pt x="68132" y="257300"/>
                    <a:pt x="74482" y="233170"/>
                    <a:pt x="84642" y="217930"/>
                  </a:cubicBezTo>
                  <a:cubicBezTo>
                    <a:pt x="96072" y="201420"/>
                    <a:pt x="106232" y="192530"/>
                    <a:pt x="134172" y="183640"/>
                  </a:cubicBezTo>
                  <a:cubicBezTo>
                    <a:pt x="237042" y="150620"/>
                    <a:pt x="687892" y="200150"/>
                    <a:pt x="913952" y="181100"/>
                  </a:cubicBezTo>
                  <a:cubicBezTo>
                    <a:pt x="1091752" y="167130"/>
                    <a:pt x="1261932" y="112520"/>
                    <a:pt x="1383852" y="103630"/>
                  </a:cubicBezTo>
                  <a:cubicBezTo>
                    <a:pt x="1461322" y="97280"/>
                    <a:pt x="1524822" y="89660"/>
                    <a:pt x="1574352" y="104900"/>
                  </a:cubicBezTo>
                  <a:cubicBezTo>
                    <a:pt x="1611182" y="116330"/>
                    <a:pt x="1648012" y="136650"/>
                    <a:pt x="1663252" y="163320"/>
                  </a:cubicBezTo>
                  <a:cubicBezTo>
                    <a:pt x="1677222" y="189990"/>
                    <a:pt x="1681032" y="238250"/>
                    <a:pt x="1667062" y="262380"/>
                  </a:cubicBezTo>
                  <a:cubicBezTo>
                    <a:pt x="1651822" y="287780"/>
                    <a:pt x="1604832" y="300480"/>
                    <a:pt x="1573082" y="310640"/>
                  </a:cubicBezTo>
                  <a:cubicBezTo>
                    <a:pt x="1543872" y="320800"/>
                    <a:pt x="1514662" y="325880"/>
                    <a:pt x="1486722" y="328420"/>
                  </a:cubicBezTo>
                  <a:cubicBezTo>
                    <a:pt x="1458782" y="332230"/>
                    <a:pt x="1439732" y="327150"/>
                    <a:pt x="1404172" y="330960"/>
                  </a:cubicBezTo>
                  <a:cubicBezTo>
                    <a:pt x="1335592" y="338580"/>
                    <a:pt x="1190812" y="377950"/>
                    <a:pt x="1106992" y="386840"/>
                  </a:cubicBezTo>
                  <a:cubicBezTo>
                    <a:pt x="1047302" y="394460"/>
                    <a:pt x="1000312" y="386840"/>
                    <a:pt x="952052" y="394460"/>
                  </a:cubicBezTo>
                  <a:cubicBezTo>
                    <a:pt x="906332" y="400810"/>
                    <a:pt x="873312" y="418590"/>
                    <a:pt x="823782" y="427480"/>
                  </a:cubicBezTo>
                  <a:cubicBezTo>
                    <a:pt x="755202" y="438910"/>
                    <a:pt x="661222" y="443990"/>
                    <a:pt x="576132" y="446530"/>
                  </a:cubicBezTo>
                  <a:cubicBezTo>
                    <a:pt x="487232" y="449070"/>
                    <a:pt x="350072" y="450340"/>
                    <a:pt x="303082" y="437640"/>
                  </a:cubicBezTo>
                  <a:cubicBezTo>
                    <a:pt x="284032" y="432560"/>
                    <a:pt x="276412" y="428750"/>
                    <a:pt x="266252" y="419860"/>
                  </a:cubicBezTo>
                  <a:cubicBezTo>
                    <a:pt x="256092" y="410970"/>
                    <a:pt x="247202" y="398270"/>
                    <a:pt x="242122" y="386840"/>
                  </a:cubicBezTo>
                  <a:cubicBezTo>
                    <a:pt x="237042" y="374140"/>
                    <a:pt x="234502" y="360170"/>
                    <a:pt x="237042" y="346200"/>
                  </a:cubicBezTo>
                  <a:cubicBezTo>
                    <a:pt x="239582" y="328420"/>
                    <a:pt x="251012" y="304290"/>
                    <a:pt x="263712" y="291590"/>
                  </a:cubicBezTo>
                  <a:cubicBezTo>
                    <a:pt x="273872" y="281430"/>
                    <a:pt x="280222" y="280160"/>
                    <a:pt x="299272" y="272540"/>
                  </a:cubicBezTo>
                  <a:cubicBezTo>
                    <a:pt x="350072" y="253490"/>
                    <a:pt x="473262" y="217930"/>
                    <a:pt x="601532" y="201420"/>
                  </a:cubicBezTo>
                  <a:cubicBezTo>
                    <a:pt x="821242" y="174750"/>
                    <a:pt x="1396552" y="156970"/>
                    <a:pt x="1505772" y="189990"/>
                  </a:cubicBezTo>
                  <a:cubicBezTo>
                    <a:pt x="1532442" y="197610"/>
                    <a:pt x="1541332" y="206500"/>
                    <a:pt x="1551492" y="221740"/>
                  </a:cubicBezTo>
                  <a:cubicBezTo>
                    <a:pt x="1560382" y="235710"/>
                    <a:pt x="1566732" y="257300"/>
                    <a:pt x="1564192" y="275080"/>
                  </a:cubicBezTo>
                  <a:cubicBezTo>
                    <a:pt x="1561652" y="291590"/>
                    <a:pt x="1551492" y="311910"/>
                    <a:pt x="1538792" y="323340"/>
                  </a:cubicBezTo>
                  <a:cubicBezTo>
                    <a:pt x="1526092" y="336040"/>
                    <a:pt x="1486722" y="343660"/>
                    <a:pt x="1486722" y="343660"/>
                  </a:cubicBezTo>
                </a:path>
              </a:pathLst>
            </a:custGeom>
            <a:solidFill>
              <a:srgbClr val="FD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904" y="3005663"/>
            <a:ext cx="1313861" cy="1545273"/>
          </a:xfrm>
          <a:custGeom>
            <a:avLst/>
            <a:gdLst/>
            <a:ahLst/>
            <a:cxnLst/>
            <a:rect r="r" b="b" t="t" l="l"/>
            <a:pathLst>
              <a:path h="1545273" w="1313861">
                <a:moveTo>
                  <a:pt x="0" y="0"/>
                </a:moveTo>
                <a:lnTo>
                  <a:pt x="1313861" y="0"/>
                </a:lnTo>
                <a:lnTo>
                  <a:pt x="1313861" y="1545274"/>
                </a:lnTo>
                <a:lnTo>
                  <a:pt x="0" y="154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48" t="0" r="-67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24846" y="2791871"/>
            <a:ext cx="981522" cy="1759066"/>
          </a:xfrm>
          <a:custGeom>
            <a:avLst/>
            <a:gdLst/>
            <a:ahLst/>
            <a:cxnLst/>
            <a:rect r="r" b="b" t="t" l="l"/>
            <a:pathLst>
              <a:path h="1759066" w="981522">
                <a:moveTo>
                  <a:pt x="0" y="0"/>
                </a:moveTo>
                <a:lnTo>
                  <a:pt x="981522" y="0"/>
                </a:lnTo>
                <a:lnTo>
                  <a:pt x="981522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485" r="0" b="-1048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0986" y="1874127"/>
            <a:ext cx="12070893" cy="95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0"/>
              </a:lnSpc>
            </a:pPr>
            <a:r>
              <a:rPr lang="en-US" sz="7270" spc="-436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LeakSense Will Work...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175" y="4590203"/>
            <a:ext cx="3135406" cy="42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3"/>
              </a:lnSpc>
              <a:spcBef>
                <a:spcPct val="0"/>
              </a:spcBef>
            </a:pPr>
            <a:r>
              <a:rPr lang="en-US" b="true" sz="248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Pinpoint accuracy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0986" y="5240194"/>
            <a:ext cx="3665785" cy="379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726" indent="-234363" lvl="1">
              <a:lnSpc>
                <a:spcPts val="3039"/>
              </a:lnSpc>
              <a:buFont typeface="Arial"/>
              <a:buChar char="•"/>
            </a:pPr>
            <a:r>
              <a:rPr lang="en-US" sz="217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Pressure sensors enable real-time burst detection and transient analysis, for utilities to respond promptly.</a:t>
            </a:r>
          </a:p>
          <a:p>
            <a:pPr algn="l">
              <a:lnSpc>
                <a:spcPts val="3039"/>
              </a:lnSpc>
            </a:pPr>
          </a:p>
          <a:p>
            <a:pPr algn="l" marL="468726" indent="-234363" lvl="1">
              <a:lnSpc>
                <a:spcPts val="3039"/>
              </a:lnSpc>
              <a:buFont typeface="Arial"/>
              <a:buChar char="•"/>
            </a:pPr>
            <a:r>
              <a:rPr lang="en-US" sz="217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Prevents potential  </a:t>
            </a:r>
            <a:r>
              <a:rPr lang="en-US" sz="217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damage, reduce financial strain, and extend asset lifespan.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09940" y="4598697"/>
            <a:ext cx="38340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Dual Sensor Technology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8154" y="5230669"/>
            <a:ext cx="3754906" cy="482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First system to combine pressure,moisture and acoustic sensors to reduce misreading risks from inconsistent pressure levels.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Timed 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coustic sensors and location specific moisture sensors  effectively detect small cracks by reading vibrations.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059820" y="3090978"/>
            <a:ext cx="1061412" cy="1459959"/>
          </a:xfrm>
          <a:custGeom>
            <a:avLst/>
            <a:gdLst/>
            <a:ahLst/>
            <a:cxnLst/>
            <a:rect r="r" b="b" t="t" l="l"/>
            <a:pathLst>
              <a:path h="1459959" w="1061412">
                <a:moveTo>
                  <a:pt x="0" y="0"/>
                </a:moveTo>
                <a:lnTo>
                  <a:pt x="1061413" y="0"/>
                </a:lnTo>
                <a:lnTo>
                  <a:pt x="1061413" y="1459959"/>
                </a:lnTo>
                <a:lnTo>
                  <a:pt x="0" y="1459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173" t="0" r="-21173" b="-510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07259" y="4607191"/>
            <a:ext cx="225492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friendly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4758" y="5272630"/>
            <a:ext cx="3059924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By notifying users of damages through our app, we help prevent potential health issues easily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Interface suitable for mobile and desktop use.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05634" y="2936597"/>
            <a:ext cx="1058172" cy="1683405"/>
          </a:xfrm>
          <a:custGeom>
            <a:avLst/>
            <a:gdLst/>
            <a:ahLst/>
            <a:cxnLst/>
            <a:rect r="r" b="b" t="t" l="l"/>
            <a:pathLst>
              <a:path h="1683405" w="1058172">
                <a:moveTo>
                  <a:pt x="0" y="0"/>
                </a:moveTo>
                <a:lnTo>
                  <a:pt x="1058172" y="0"/>
                </a:lnTo>
                <a:lnTo>
                  <a:pt x="1058172" y="1683405"/>
                </a:lnTo>
                <a:lnTo>
                  <a:pt x="0" y="1683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055" t="0" r="-2178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635586" y="4590203"/>
            <a:ext cx="190988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65854" y="5272630"/>
            <a:ext cx="3449345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Making sustainability engaging for the common- man.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Government incentives and rewards will boost engagement and support for sustainable activities.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076325"/>
            <a:ext cx="7342398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ED5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32451" y="1320461"/>
            <a:ext cx="8593699" cy="111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7"/>
              </a:lnSpc>
            </a:pPr>
            <a:r>
              <a:rPr lang="en-US" b="true" sz="8191" spc="131">
                <a:solidFill>
                  <a:srgbClr val="7F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Revenue </a:t>
            </a:r>
            <a:r>
              <a:rPr lang="en-US" b="true" sz="8191" spc="131">
                <a:solidFill>
                  <a:srgbClr val="7F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740358" y="3890536"/>
            <a:ext cx="4950721" cy="3267476"/>
            <a:chOff x="0" y="0"/>
            <a:chExt cx="63500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0543" y="0"/>
                  </a:moveTo>
                  <a:lnTo>
                    <a:pt x="604457" y="0"/>
                  </a:lnTo>
                  <a:cubicBezTo>
                    <a:pt x="621325" y="0"/>
                    <a:pt x="635000" y="13675"/>
                    <a:pt x="635000" y="30543"/>
                  </a:cubicBezTo>
                  <a:lnTo>
                    <a:pt x="635000" y="388557"/>
                  </a:lnTo>
                  <a:cubicBezTo>
                    <a:pt x="635000" y="405425"/>
                    <a:pt x="621325" y="419100"/>
                    <a:pt x="604457" y="419100"/>
                  </a:cubicBezTo>
                  <a:lnTo>
                    <a:pt x="30543" y="419100"/>
                  </a:lnTo>
                  <a:cubicBezTo>
                    <a:pt x="13675" y="419100"/>
                    <a:pt x="0" y="405425"/>
                    <a:pt x="0" y="388557"/>
                  </a:cubicBezTo>
                  <a:lnTo>
                    <a:pt x="0" y="30543"/>
                  </a:lnTo>
                  <a:cubicBezTo>
                    <a:pt x="0" y="13675"/>
                    <a:pt x="13675" y="0"/>
                    <a:pt x="30543" y="0"/>
                  </a:cubicBezTo>
                  <a:close/>
                </a:path>
              </a:pathLst>
            </a:custGeom>
            <a:solidFill>
              <a:srgbClr val="C1AE8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6350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22837" y="3941762"/>
            <a:ext cx="4950721" cy="3267476"/>
            <a:chOff x="0" y="0"/>
            <a:chExt cx="635000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0543" y="0"/>
                  </a:moveTo>
                  <a:lnTo>
                    <a:pt x="604457" y="0"/>
                  </a:lnTo>
                  <a:cubicBezTo>
                    <a:pt x="621325" y="0"/>
                    <a:pt x="635000" y="13675"/>
                    <a:pt x="635000" y="30543"/>
                  </a:cubicBezTo>
                  <a:lnTo>
                    <a:pt x="635000" y="388557"/>
                  </a:lnTo>
                  <a:cubicBezTo>
                    <a:pt x="635000" y="405425"/>
                    <a:pt x="621325" y="419100"/>
                    <a:pt x="604457" y="419100"/>
                  </a:cubicBezTo>
                  <a:lnTo>
                    <a:pt x="30543" y="419100"/>
                  </a:lnTo>
                  <a:cubicBezTo>
                    <a:pt x="13675" y="419100"/>
                    <a:pt x="0" y="405425"/>
                    <a:pt x="0" y="388557"/>
                  </a:cubicBezTo>
                  <a:lnTo>
                    <a:pt x="0" y="30543"/>
                  </a:lnTo>
                  <a:cubicBezTo>
                    <a:pt x="0" y="13675"/>
                    <a:pt x="13675" y="0"/>
                    <a:pt x="30543" y="0"/>
                  </a:cubicBezTo>
                  <a:close/>
                </a:path>
              </a:pathLst>
            </a:custGeom>
            <a:solidFill>
              <a:srgbClr val="C1AE8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6350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5435" y="3941762"/>
            <a:ext cx="4950721" cy="3267476"/>
            <a:chOff x="0" y="0"/>
            <a:chExt cx="635000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0543" y="0"/>
                  </a:moveTo>
                  <a:lnTo>
                    <a:pt x="604457" y="0"/>
                  </a:lnTo>
                  <a:cubicBezTo>
                    <a:pt x="621325" y="0"/>
                    <a:pt x="635000" y="13675"/>
                    <a:pt x="635000" y="30543"/>
                  </a:cubicBezTo>
                  <a:lnTo>
                    <a:pt x="635000" y="388557"/>
                  </a:lnTo>
                  <a:cubicBezTo>
                    <a:pt x="635000" y="405425"/>
                    <a:pt x="621325" y="419100"/>
                    <a:pt x="604457" y="419100"/>
                  </a:cubicBezTo>
                  <a:lnTo>
                    <a:pt x="30543" y="419100"/>
                  </a:lnTo>
                  <a:cubicBezTo>
                    <a:pt x="13675" y="419100"/>
                    <a:pt x="0" y="405425"/>
                    <a:pt x="0" y="388557"/>
                  </a:cubicBezTo>
                  <a:lnTo>
                    <a:pt x="0" y="30543"/>
                  </a:lnTo>
                  <a:cubicBezTo>
                    <a:pt x="0" y="13675"/>
                    <a:pt x="13675" y="0"/>
                    <a:pt x="30543" y="0"/>
                  </a:cubicBezTo>
                  <a:close/>
                </a:path>
              </a:pathLst>
            </a:custGeom>
            <a:solidFill>
              <a:srgbClr val="C1AE8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6350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076325"/>
            <a:ext cx="2198855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2115" y="4674113"/>
            <a:ext cx="4170880" cy="169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b="true" sz="3663" spc="366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MAINTENANCE FEES FROM FLAT OWNERS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12757" y="4626579"/>
            <a:ext cx="4170880" cy="169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b="true" sz="3663" spc="366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INSTALLATION FROM BUILDERS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0883" y="4393126"/>
            <a:ext cx="4170880" cy="225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b="true" sz="3663" spc="366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GOVERNMENT AND MUNICIPAL INSTALLS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7181" y="7287578"/>
            <a:ext cx="5044240" cy="254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b="true" sz="2494" spc="197">
                <a:solidFill>
                  <a:srgbClr val="6846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ONE-TIME FEES FOR DESIGN, HARDWARE, AND DEPLOYMENT COVER 12 MONTHS OF PREPAID MAINTENANCE, AFTER WHICH RESIDENT SUBSCRIPTIONS BEGIN.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1841" y="7287578"/>
            <a:ext cx="5044240" cy="181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b="true" sz="2494" spc="197">
                <a:solidFill>
                  <a:srgbClr val="6846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RECURRING MAINTENANCE SUBSCRIPTION PER FLAT FOR MONITORING, UPDATES, ANALYTICS, AND 24/7 LEAK ALERTS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30160" y="7287578"/>
            <a:ext cx="5044240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b="true" sz="2494" spc="197">
                <a:solidFill>
                  <a:srgbClr val="6846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B2G CONTRACTS FOR CITYWIDE OR PUBLIC HOUSING ROLLOUTS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5319" y="2943463"/>
            <a:ext cx="8298722" cy="44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b="true" sz="2963" spc="296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STD. UNIT COST: 10,000INR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29301" y="2943463"/>
            <a:ext cx="10019342" cy="44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b="true" sz="2963" spc="296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STD.CLOUD COST: 1700 INR/MONTH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7745"/>
            <a:ext cx="8115300" cy="82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6199" spc="-37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Competitive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44220"/>
            <a:ext cx="7342398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6283" y="2787402"/>
            <a:ext cx="296786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Phyn</a:t>
            </a:r>
          </a:p>
          <a:p>
            <a:pPr algn="l" marL="669286" indent="-334643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LeakBot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6283" y="3988963"/>
            <a:ext cx="5143050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Limited acoustic coverage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4766203"/>
            <a:ext cx="162306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1324833" y="2825538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4699899" y="4979563"/>
            <a:ext cx="4676375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Affordability and accessibility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99899" y="6121928"/>
            <a:ext cx="5386105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Positioned to be cost efficient (100-300ft)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easy to install due to being placed over outer nodes.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437421" y="475491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8196993" y="2825538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303288" y="475491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>
            <a:off x="14421039" y="2854077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448004" y="2865190"/>
            <a:ext cx="3833460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Honeywell lyric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71098" y="3414147"/>
            <a:ext cx="398727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Less coverage area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Not cost efficient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27138" y="4979563"/>
            <a:ext cx="376302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Sustainability Integration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27138" y="6121928"/>
            <a:ext cx="5632162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LeakSense’s tagline and mission align with growing consumer demand for eco-conscious solutions.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92489" y="2893448"/>
            <a:ext cx="1678642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Aqua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92489" y="3378587"/>
            <a:ext cx="3466062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Less user friendly interface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38963" y="8813917"/>
            <a:ext cx="5300568" cy="82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6199" spc="-37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Differentiators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73436" y="9527433"/>
            <a:ext cx="7342398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7175" y="2561043"/>
          <a:ext cx="11315700" cy="3771900"/>
        </p:xfrm>
        <a:graphic>
          <a:graphicData uri="http://schemas.openxmlformats.org/presentationml/2006/ole">
            <p:oleObj imgW="13576300" imgH="6032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910273"/>
            <a:ext cx="7342398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09052"/>
            <a:ext cx="8115300" cy="82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6199" spc="-371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We Offer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5922" y="2576518"/>
            <a:ext cx="16138502" cy="7670247"/>
          </a:xfrm>
          <a:custGeom>
            <a:avLst/>
            <a:gdLst/>
            <a:ahLst/>
            <a:cxnLst/>
            <a:rect r="r" b="b" t="t" l="l"/>
            <a:pathLst>
              <a:path h="7670247" w="16138502">
                <a:moveTo>
                  <a:pt x="0" y="0"/>
                </a:moveTo>
                <a:lnTo>
                  <a:pt x="16138502" y="0"/>
                </a:lnTo>
                <a:lnTo>
                  <a:pt x="16138502" y="7670247"/>
                </a:lnTo>
                <a:lnTo>
                  <a:pt x="0" y="7670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352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1100" y="1228725"/>
            <a:ext cx="2198855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  <a:spcBef>
                <a:spcPct val="0"/>
              </a:spcBef>
            </a:pPr>
            <a:r>
              <a:rPr lang="en-US" b="true" sz="2199" spc="21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LEAKSENSE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DAG3K3P_72g</dc:identifier>
  <dcterms:modified xsi:type="dcterms:W3CDTF">2011-08-01T06:04:30Z</dcterms:modified>
  <cp:revision>1</cp:revision>
  <dc:title>Leaksense version 2</dc:title>
</cp:coreProperties>
</file>